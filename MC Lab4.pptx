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69" r:id="rId7"/>
    <p:sldId id="260" r:id="rId8"/>
    <p:sldId id="270" r:id="rId9"/>
    <p:sldId id="272" r:id="rId10"/>
    <p:sldId id="273" r:id="rId11"/>
    <p:sldId id="267" r:id="rId12"/>
    <p:sldId id="266" r:id="rId13"/>
    <p:sldId id="268" r:id="rId14"/>
    <p:sldId id="261" r:id="rId15"/>
    <p:sldId id="271" r:id="rId16"/>
    <p:sldId id="26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41D4BD-C70D-4BA1-B2FC-87BE6A68F229}" v="137" dt="2023-12-21T01:09:17.0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269538-BFC5-48BB-BEA1-D7AF1F385FD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7F7584C-6CC5-40A2-9566-2842A5DEA97A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Goals</a:t>
          </a:r>
        </a:p>
      </dgm:t>
    </dgm:pt>
    <dgm:pt modelId="{581272CD-5908-4C17-8E9B-8BF6DCE43C3E}" type="parTrans" cxnId="{F68422C1-CD34-4DED-AA4B-85EFFF4FE933}">
      <dgm:prSet/>
      <dgm:spPr/>
      <dgm:t>
        <a:bodyPr/>
        <a:lstStyle/>
        <a:p>
          <a:endParaRPr lang="en-US"/>
        </a:p>
      </dgm:t>
    </dgm:pt>
    <dgm:pt modelId="{C41ED6A4-512C-48AB-901D-671B73446005}" type="sibTrans" cxnId="{F68422C1-CD34-4DED-AA4B-85EFFF4FE933}">
      <dgm:prSet/>
      <dgm:spPr/>
      <dgm:t>
        <a:bodyPr/>
        <a:lstStyle/>
        <a:p>
          <a:endParaRPr lang="en-US"/>
        </a:p>
      </dgm:t>
    </dgm:pt>
    <dgm:pt modelId="{9D8DAFB6-C744-4BD6-B757-393BF647EBB6}">
      <dgm:prSet phldrT="[Text]" custT="1"/>
      <dgm:spPr/>
      <dgm:t>
        <a:bodyPr/>
        <a:lstStyle/>
        <a:p>
          <a:endParaRPr lang="en-US" sz="24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C9B44773-68B1-427B-B9CA-0AEA186B621E}" type="sibTrans" cxnId="{56052809-46E4-4445-B520-94004C28BB9D}">
      <dgm:prSet/>
      <dgm:spPr/>
      <dgm:t>
        <a:bodyPr/>
        <a:lstStyle/>
        <a:p>
          <a:endParaRPr lang="en-US"/>
        </a:p>
      </dgm:t>
    </dgm:pt>
    <dgm:pt modelId="{17C1C47E-8D1A-404A-B227-B017391CB5F6}" type="parTrans" cxnId="{56052809-46E4-4445-B520-94004C28BB9D}">
      <dgm:prSet/>
      <dgm:spPr/>
      <dgm:t>
        <a:bodyPr/>
        <a:lstStyle/>
        <a:p>
          <a:endParaRPr lang="en-US"/>
        </a:p>
      </dgm:t>
    </dgm:pt>
    <dgm:pt modelId="{DC8AC89B-E9A0-4674-B149-CFA6AE23152F}">
      <dgm:prSet custT="1"/>
      <dgm:spPr/>
      <dgm:t>
        <a:bodyPr/>
        <a:lstStyle/>
        <a:p>
          <a:r>
            <a:rPr lang="en-GB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The microcontroller program shall receive the text via the UART0 interface, evaluate the received command and switch the four user LEDs on or off accordingly. </a:t>
          </a:r>
          <a:endParaRPr lang="en-DE" sz="24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06F8989-D18D-42BC-8277-7BF74F9AB2BF}" type="parTrans" cxnId="{19C84169-4756-4030-9B00-C76B44BF6ACA}">
      <dgm:prSet/>
      <dgm:spPr/>
      <dgm:t>
        <a:bodyPr/>
        <a:lstStyle/>
        <a:p>
          <a:endParaRPr lang="en-DE"/>
        </a:p>
      </dgm:t>
    </dgm:pt>
    <dgm:pt modelId="{6C422514-1194-46F0-9C81-B945F7F0131B}" type="sibTrans" cxnId="{19C84169-4756-4030-9B00-C76B44BF6ACA}">
      <dgm:prSet/>
      <dgm:spPr/>
      <dgm:t>
        <a:bodyPr/>
        <a:lstStyle/>
        <a:p>
          <a:endParaRPr lang="en-DE"/>
        </a:p>
      </dgm:t>
    </dgm:pt>
    <dgm:pt modelId="{E45B3DA9-885D-4489-B500-86C491D3E5BB}">
      <dgm:prSet custT="1"/>
      <dgm:spPr/>
      <dgm:t>
        <a:bodyPr/>
        <a:lstStyle/>
        <a:p>
          <a:r>
            <a:rPr lang="en-GB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With the switch SW1 it should report to the terminal window, which of the LEDs is currently switched on.</a:t>
          </a:r>
          <a:endParaRPr lang="en-DE" sz="24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2B3CD7D-0B72-4083-8DB2-CA980D46129A}" type="parTrans" cxnId="{73EC6ED1-A0E9-406C-8443-103BC7890B8E}">
      <dgm:prSet/>
      <dgm:spPr/>
      <dgm:t>
        <a:bodyPr/>
        <a:lstStyle/>
        <a:p>
          <a:endParaRPr lang="en-DE"/>
        </a:p>
      </dgm:t>
    </dgm:pt>
    <dgm:pt modelId="{D3E83048-B47E-445D-9C4A-6E4AA7A200B0}" type="sibTrans" cxnId="{73EC6ED1-A0E9-406C-8443-103BC7890B8E}">
      <dgm:prSet/>
      <dgm:spPr/>
      <dgm:t>
        <a:bodyPr/>
        <a:lstStyle/>
        <a:p>
          <a:endParaRPr lang="en-DE"/>
        </a:p>
      </dgm:t>
    </dgm:pt>
    <dgm:pt modelId="{A025DBB9-893E-42A3-A5A8-EEC141A466A2}">
      <dgm:prSet custT="1"/>
      <dgm:spPr/>
      <dgm:t>
        <a:bodyPr/>
        <a:lstStyle/>
        <a:p>
          <a:endParaRPr lang="en-DE" sz="24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FA6575E5-A5C6-4168-84EF-B0960B557A9F}" type="parTrans" cxnId="{3D025C04-61CA-4C7C-B991-B2208D82A3A6}">
      <dgm:prSet/>
      <dgm:spPr/>
    </dgm:pt>
    <dgm:pt modelId="{01318AA2-0055-41E6-82DA-66A83A0D6212}" type="sibTrans" cxnId="{3D025C04-61CA-4C7C-B991-B2208D82A3A6}">
      <dgm:prSet/>
      <dgm:spPr/>
    </dgm:pt>
    <dgm:pt modelId="{4071CB19-EF1A-497A-ADB5-3AB124066BA1}">
      <dgm:prSet custT="1"/>
      <dgm:spPr/>
      <dgm:t>
        <a:bodyPr/>
        <a:lstStyle/>
        <a:p>
          <a:endParaRPr lang="en-DE" sz="24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0EFE659-56CB-4ECB-9F43-CC4CED3C6BEB}" type="parTrans" cxnId="{25F8641C-A9AB-4338-8CEB-3238E9006646}">
      <dgm:prSet/>
      <dgm:spPr/>
    </dgm:pt>
    <dgm:pt modelId="{51A230E0-B534-4FA2-AB00-9CD0F65E009A}" type="sibTrans" cxnId="{25F8641C-A9AB-4338-8CEB-3238E9006646}">
      <dgm:prSet/>
      <dgm:spPr/>
    </dgm:pt>
    <dgm:pt modelId="{99FD7F24-5BB9-46E8-BB7C-4B477B73B815}" type="pres">
      <dgm:prSet presAssocID="{81269538-BFC5-48BB-BEA1-D7AF1F385FD5}" presName="Name0" presStyleCnt="0">
        <dgm:presLayoutVars>
          <dgm:dir/>
          <dgm:animLvl val="lvl"/>
          <dgm:resizeHandles val="exact"/>
        </dgm:presLayoutVars>
      </dgm:prSet>
      <dgm:spPr/>
    </dgm:pt>
    <dgm:pt modelId="{C60E4332-AB2E-4201-AF29-E3D9D2CE99DD}" type="pres">
      <dgm:prSet presAssocID="{A7F7584C-6CC5-40A2-9566-2842A5DEA97A}" presName="linNode" presStyleCnt="0"/>
      <dgm:spPr/>
    </dgm:pt>
    <dgm:pt modelId="{8A3FE5E4-2689-4041-B2C5-C63BC276A3EF}" type="pres">
      <dgm:prSet presAssocID="{A7F7584C-6CC5-40A2-9566-2842A5DEA97A}" presName="parentText" presStyleLbl="node1" presStyleIdx="0" presStyleCnt="1" custScaleX="482586" custLinFactNeighborX="15264" custLinFactNeighborY="16680">
        <dgm:presLayoutVars>
          <dgm:chMax val="1"/>
          <dgm:bulletEnabled val="1"/>
        </dgm:presLayoutVars>
      </dgm:prSet>
      <dgm:spPr/>
    </dgm:pt>
    <dgm:pt modelId="{329ECF1A-78BE-41CB-B252-8011825B67CD}" type="pres">
      <dgm:prSet presAssocID="{A7F7584C-6CC5-40A2-9566-2842A5DEA97A}" presName="descendantText" presStyleLbl="alignAccFollowNode1" presStyleIdx="0" presStyleCnt="1" custScaleX="881344" custScaleY="125122" custLinFactNeighborX="4177" custLinFactNeighborY="-30873">
        <dgm:presLayoutVars>
          <dgm:bulletEnabled val="1"/>
        </dgm:presLayoutVars>
      </dgm:prSet>
      <dgm:spPr/>
    </dgm:pt>
  </dgm:ptLst>
  <dgm:cxnLst>
    <dgm:cxn modelId="{E0EE6802-9BD1-48D2-89C3-36D66E987FC4}" type="presOf" srcId="{E45B3DA9-885D-4489-B500-86C491D3E5BB}" destId="{329ECF1A-78BE-41CB-B252-8011825B67CD}" srcOrd="0" destOrd="3" presId="urn:microsoft.com/office/officeart/2005/8/layout/vList5"/>
    <dgm:cxn modelId="{3D025C04-61CA-4C7C-B991-B2208D82A3A6}" srcId="{A7F7584C-6CC5-40A2-9566-2842A5DEA97A}" destId="{A025DBB9-893E-42A3-A5A8-EEC141A466A2}" srcOrd="2" destOrd="0" parTransId="{FA6575E5-A5C6-4168-84EF-B0960B557A9F}" sibTransId="{01318AA2-0055-41E6-82DA-66A83A0D6212}"/>
    <dgm:cxn modelId="{56052809-46E4-4445-B520-94004C28BB9D}" srcId="{A7F7584C-6CC5-40A2-9566-2842A5DEA97A}" destId="{9D8DAFB6-C744-4BD6-B757-393BF647EBB6}" srcOrd="0" destOrd="0" parTransId="{17C1C47E-8D1A-404A-B227-B017391CB5F6}" sibTransId="{C9B44773-68B1-427B-B9CA-0AEA186B621E}"/>
    <dgm:cxn modelId="{25F8641C-A9AB-4338-8CEB-3238E9006646}" srcId="{A7F7584C-6CC5-40A2-9566-2842A5DEA97A}" destId="{4071CB19-EF1A-497A-ADB5-3AB124066BA1}" srcOrd="4" destOrd="0" parTransId="{50EFE659-56CB-4ECB-9F43-CC4CED3C6BEB}" sibTransId="{51A230E0-B534-4FA2-AB00-9CD0F65E009A}"/>
    <dgm:cxn modelId="{A38C1039-CB78-4EBF-844F-7A838983E228}" type="presOf" srcId="{A7F7584C-6CC5-40A2-9566-2842A5DEA97A}" destId="{8A3FE5E4-2689-4041-B2C5-C63BC276A3EF}" srcOrd="0" destOrd="0" presId="urn:microsoft.com/office/officeart/2005/8/layout/vList5"/>
    <dgm:cxn modelId="{19C84169-4756-4030-9B00-C76B44BF6ACA}" srcId="{A7F7584C-6CC5-40A2-9566-2842A5DEA97A}" destId="{DC8AC89B-E9A0-4674-B149-CFA6AE23152F}" srcOrd="1" destOrd="0" parTransId="{106F8989-D18D-42BC-8277-7BF74F9AB2BF}" sibTransId="{6C422514-1194-46F0-9C81-B945F7F0131B}"/>
    <dgm:cxn modelId="{1964B96A-CF24-485F-B6B4-DABB283EEDA6}" type="presOf" srcId="{DC8AC89B-E9A0-4674-B149-CFA6AE23152F}" destId="{329ECF1A-78BE-41CB-B252-8011825B67CD}" srcOrd="0" destOrd="1" presId="urn:microsoft.com/office/officeart/2005/8/layout/vList5"/>
    <dgm:cxn modelId="{6DF17F4D-4120-4DE8-8738-503F2519CD40}" type="presOf" srcId="{9D8DAFB6-C744-4BD6-B757-393BF647EBB6}" destId="{329ECF1A-78BE-41CB-B252-8011825B67CD}" srcOrd="0" destOrd="0" presId="urn:microsoft.com/office/officeart/2005/8/layout/vList5"/>
    <dgm:cxn modelId="{E975DC81-F54E-4EF2-A5F6-863C77C12161}" type="presOf" srcId="{A025DBB9-893E-42A3-A5A8-EEC141A466A2}" destId="{329ECF1A-78BE-41CB-B252-8011825B67CD}" srcOrd="0" destOrd="2" presId="urn:microsoft.com/office/officeart/2005/8/layout/vList5"/>
    <dgm:cxn modelId="{53988784-A0E1-4D82-B36B-740DE83EB0C9}" type="presOf" srcId="{81269538-BFC5-48BB-BEA1-D7AF1F385FD5}" destId="{99FD7F24-5BB9-46E8-BB7C-4B477B73B815}" srcOrd="0" destOrd="0" presId="urn:microsoft.com/office/officeart/2005/8/layout/vList5"/>
    <dgm:cxn modelId="{F68422C1-CD34-4DED-AA4B-85EFFF4FE933}" srcId="{81269538-BFC5-48BB-BEA1-D7AF1F385FD5}" destId="{A7F7584C-6CC5-40A2-9566-2842A5DEA97A}" srcOrd="0" destOrd="0" parTransId="{581272CD-5908-4C17-8E9B-8BF6DCE43C3E}" sibTransId="{C41ED6A4-512C-48AB-901D-671B73446005}"/>
    <dgm:cxn modelId="{73EC6ED1-A0E9-406C-8443-103BC7890B8E}" srcId="{A7F7584C-6CC5-40A2-9566-2842A5DEA97A}" destId="{E45B3DA9-885D-4489-B500-86C491D3E5BB}" srcOrd="3" destOrd="0" parTransId="{12B3CD7D-0B72-4083-8DB2-CA980D46129A}" sibTransId="{D3E83048-B47E-445D-9C4A-6E4AA7A200B0}"/>
    <dgm:cxn modelId="{666C47DC-3D1F-4656-854D-CDCCA4702BAA}" type="presOf" srcId="{4071CB19-EF1A-497A-ADB5-3AB124066BA1}" destId="{329ECF1A-78BE-41CB-B252-8011825B67CD}" srcOrd="0" destOrd="4" presId="urn:microsoft.com/office/officeart/2005/8/layout/vList5"/>
    <dgm:cxn modelId="{FB2D3183-70C6-44DD-875A-CC09A2C89FEB}" type="presParOf" srcId="{99FD7F24-5BB9-46E8-BB7C-4B477B73B815}" destId="{C60E4332-AB2E-4201-AF29-E3D9D2CE99DD}" srcOrd="0" destOrd="0" presId="urn:microsoft.com/office/officeart/2005/8/layout/vList5"/>
    <dgm:cxn modelId="{B9D84324-BE5B-4514-8201-6B25BE814C19}" type="presParOf" srcId="{C60E4332-AB2E-4201-AF29-E3D9D2CE99DD}" destId="{8A3FE5E4-2689-4041-B2C5-C63BC276A3EF}" srcOrd="0" destOrd="0" presId="urn:microsoft.com/office/officeart/2005/8/layout/vList5"/>
    <dgm:cxn modelId="{62F196CC-DD4E-41F1-95F6-0E80E18CA40A}" type="presParOf" srcId="{C60E4332-AB2E-4201-AF29-E3D9D2CE99DD}" destId="{329ECF1A-78BE-41CB-B252-8011825B67C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9ECF1A-78BE-41CB-B252-8011825B67CD}">
      <dsp:nvSpPr>
        <dsp:cNvPr id="0" name=""/>
        <dsp:cNvSpPr/>
      </dsp:nvSpPr>
      <dsp:spPr>
        <a:xfrm rot="5400000">
          <a:off x="4737832" y="-2309085"/>
          <a:ext cx="3257065" cy="787523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4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The microcontroller program shall receive the text via the UART0 interface, evaluate the received command and switch the four user LEDs on or off accordingly. </a:t>
          </a:r>
          <a:endParaRPr lang="en-DE" sz="24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DE" sz="24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With the switch SW1 it should report to the terminal window, which of the LEDs is currently switched on.</a:t>
          </a:r>
          <a:endParaRPr lang="en-DE" sz="24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DE" sz="24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 rot="-5400000">
        <a:off x="2428747" y="158997"/>
        <a:ext cx="7716239" cy="2939071"/>
      </dsp:txXfrm>
    </dsp:sp>
    <dsp:sp modelId="{8A3FE5E4-2689-4041-B2C5-C63BC276A3EF}">
      <dsp:nvSpPr>
        <dsp:cNvPr id="0" name=""/>
        <dsp:cNvSpPr/>
      </dsp:nvSpPr>
      <dsp:spPr>
        <a:xfrm>
          <a:off x="137975" y="3180"/>
          <a:ext cx="2425578" cy="32538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170" tIns="108585" rIns="217170" bIns="108585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700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Goals</a:t>
          </a:r>
        </a:p>
      </dsp:txBody>
      <dsp:txXfrm>
        <a:off x="256382" y="121587"/>
        <a:ext cx="2188764" cy="30170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10/26/2026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10/26/2026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br>
              <a:rPr lang="en-US" sz="5400" dirty="0">
                <a:latin typeface="Rockwell" panose="02060603020205020403" pitchFamily="18" charset="0"/>
              </a:rPr>
            </a:br>
            <a:r>
              <a:rPr lang="en-US" sz="5400" dirty="0">
                <a:latin typeface="Rockwell" panose="02060603020205020403" pitchFamily="18" charset="0"/>
              </a:rPr>
              <a:t>Micro-Controller</a:t>
            </a:r>
            <a:br>
              <a:rPr lang="en-US" sz="5400" dirty="0">
                <a:latin typeface="Rockwell" panose="02060603020205020403" pitchFamily="18" charset="0"/>
              </a:rPr>
            </a:br>
            <a:r>
              <a:rPr lang="en-US" sz="5400" dirty="0">
                <a:latin typeface="Rockwell" panose="02060603020205020403" pitchFamily="18" charset="0"/>
              </a:rPr>
              <a:t>Lab 4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</a:t>
            </a:r>
            <a:b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 R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Zitu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Minhazul </a:t>
            </a:r>
            <a:r>
              <a:rPr lang="en-US" sz="4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islam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529477" cy="147857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Rockwell" panose="02060603020205020403" pitchFamily="18" charset="0"/>
              </a:rPr>
              <a:t>Problem: Controlling a microcontroller with the PC via UART protocol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4F1745-A55E-4835-88EB-BC637121B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7851050"/>
              </p:ext>
            </p:extLst>
          </p:nvPr>
        </p:nvGraphicFramePr>
        <p:xfrm>
          <a:off x="876635" y="2753032"/>
          <a:ext cx="10303983" cy="32570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368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821555" cy="786581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Rockwell" panose="02060603020205020403" pitchFamily="18" charset="0"/>
              </a:rPr>
              <a:t>Flow 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BC17D9-9E55-E48F-35DC-07BED08C8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24780" y="656308"/>
            <a:ext cx="10778214" cy="6044145"/>
          </a:xfrm>
        </p:spPr>
      </p:pic>
    </p:spTree>
    <p:extLst>
      <p:ext uri="{BB962C8B-B14F-4D97-AF65-F5344CB8AC3E}">
        <p14:creationId xmlns:p14="http://schemas.microsoft.com/office/powerpoint/2010/main" val="1884516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The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counter, my name and Matr. No keeps getting printed to the console on every defined interval.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09847B-E4B1-A1FA-9450-AD0688916D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B2E003D-F3E9-1442-7A83-8EF2D4951DDE}"/>
              </a:ext>
            </a:extLst>
          </p:cNvPr>
          <p:cNvSpPr txBox="1">
            <a:spLocks/>
          </p:cNvSpPr>
          <p:nvPr/>
        </p:nvSpPr>
        <p:spPr>
          <a:xfrm>
            <a:off x="1141413" y="0"/>
            <a:ext cx="9905998" cy="934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latin typeface="Rockwell" panose="02060603020205020403" pitchFamily="18" charset="0"/>
              </a:rPr>
              <a:t>Formulas used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D0D91E-A629-EF7A-61E3-232E67FC5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67" y="808612"/>
            <a:ext cx="9570663" cy="581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410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A1005-BA8A-95E0-124D-0345400E5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DDCC0-CAE4-EF1B-B791-3107F242B54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B1943-57AF-8B9B-85B2-4440D792B3E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605856-31F3-8B87-6715-ACCE56375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930" y="934065"/>
            <a:ext cx="8770962" cy="547648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6B6E830-B218-2604-A49C-CA8EB85348AA}"/>
              </a:ext>
            </a:extLst>
          </p:cNvPr>
          <p:cNvSpPr txBox="1">
            <a:spLocks/>
          </p:cNvSpPr>
          <p:nvPr/>
        </p:nvSpPr>
        <p:spPr>
          <a:xfrm>
            <a:off x="1141413" y="0"/>
            <a:ext cx="9905998" cy="934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latin typeface="Rockwell" panose="02060603020205020403" pitchFamily="18" charset="0"/>
              </a:rPr>
              <a:t>Formulas used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38D0BA-CE0A-34A3-97D3-0561DBE82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929" y="832424"/>
            <a:ext cx="8770963" cy="567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024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DDCC0-CAE4-EF1B-B791-3107F242B5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934065"/>
            <a:ext cx="10604474" cy="59987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/>
              <a:t>In the given code, the IBRD is set to 104 and FBRD is set to 11 and the system clock is 16 </a:t>
            </a:r>
            <a:r>
              <a:rPr lang="en-GB" sz="2000" dirty="0" err="1"/>
              <a:t>MHz.</a:t>
            </a:r>
            <a:endParaRPr lang="en-GB" sz="2000" dirty="0"/>
          </a:p>
          <a:p>
            <a:pPr marL="0" indent="0">
              <a:buNone/>
            </a:pPr>
            <a:r>
              <a:rPr lang="en-GB" sz="2000" dirty="0"/>
              <a:t>So the actual Baud Rate that has been set in the test program is 16,000,000/(104+11/64)×16 bits/s or approximately 9599.52 bits/s.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The absolute bitrate error is simply the absolute difference between the actual baud rate and the desired baud rate. The formula for absolute bitrate error is:</a:t>
            </a:r>
          </a:p>
          <a:p>
            <a:pPr marL="0" indent="0">
              <a:buNone/>
            </a:pPr>
            <a:r>
              <a:rPr lang="en-GB" sz="2000" b="1" dirty="0" err="1"/>
              <a:t>err_abs</a:t>
            </a:r>
            <a:r>
              <a:rPr lang="en-GB" sz="2000" b="1" dirty="0"/>
              <a:t> = |</a:t>
            </a:r>
            <a:r>
              <a:rPr lang="en-GB" sz="2000" b="1" dirty="0" err="1"/>
              <a:t>bitrate_rounded</a:t>
            </a:r>
            <a:r>
              <a:rPr lang="en-GB" sz="2000" b="1" dirty="0"/>
              <a:t> − </a:t>
            </a:r>
            <a:r>
              <a:rPr lang="en-GB" sz="2000" b="1" dirty="0" err="1"/>
              <a:t>bitrate_desired</a:t>
            </a:r>
            <a:r>
              <a:rPr lang="en-GB" sz="2000" b="1" dirty="0"/>
              <a:t>|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We calculated the actual baud rate (</a:t>
            </a:r>
            <a:r>
              <a:rPr lang="en-GB" sz="2000" dirty="0" err="1"/>
              <a:t>bitrate_rounded</a:t>
            </a:r>
            <a:r>
              <a:rPr lang="en-GB" sz="2000" dirty="0"/>
              <a:t>) as approximately 9599.52 bits/s, and the </a:t>
            </a:r>
            <a:r>
              <a:rPr lang="en-GB" sz="2000" dirty="0" err="1"/>
              <a:t>bitrate_desired</a:t>
            </a:r>
            <a:r>
              <a:rPr lang="en-GB" sz="2000" dirty="0"/>
              <a:t> is 9600 bits/s. The calculation for absolute bitrate error is as follows:</a:t>
            </a:r>
          </a:p>
          <a:p>
            <a:pPr marL="0" indent="0">
              <a:buNone/>
            </a:pPr>
            <a:r>
              <a:rPr lang="en-GB" sz="2000" b="1" dirty="0" err="1"/>
              <a:t>err_abs</a:t>
            </a:r>
            <a:r>
              <a:rPr lang="en-GB" sz="2000" b="1" dirty="0"/>
              <a:t> = |9599.52 − 9600| = |−0.48| ≈ 0.48 bits/s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6B6E830-B218-2604-A49C-CA8EB85348AA}"/>
              </a:ext>
            </a:extLst>
          </p:cNvPr>
          <p:cNvSpPr txBox="1">
            <a:spLocks/>
          </p:cNvSpPr>
          <p:nvPr/>
        </p:nvSpPr>
        <p:spPr>
          <a:xfrm>
            <a:off x="1141413" y="0"/>
            <a:ext cx="9905998" cy="934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latin typeface="Rockwell" panose="02060603020205020403" pitchFamily="18" charset="0"/>
              </a:rPr>
              <a:t>Calculating Error Rate</a:t>
            </a:r>
          </a:p>
        </p:txBody>
      </p:sp>
    </p:spTree>
    <p:extLst>
      <p:ext uri="{BB962C8B-B14F-4D97-AF65-F5344CB8AC3E}">
        <p14:creationId xmlns:p14="http://schemas.microsoft.com/office/powerpoint/2010/main" val="575870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DDCC0-CAE4-EF1B-B791-3107F242B5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1288473"/>
            <a:ext cx="10604474" cy="49543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/>
              <a:t>The relative bitrate error is the absolute bitrate error divided by the desired bitrate. Another formula for relative bitrate error is:</a:t>
            </a:r>
          </a:p>
          <a:p>
            <a:pPr marL="0" indent="0">
              <a:buNone/>
            </a:pPr>
            <a:r>
              <a:rPr lang="en-GB" sz="2000" b="1" dirty="0" err="1"/>
              <a:t>err_rel</a:t>
            </a:r>
            <a:r>
              <a:rPr lang="en-GB" sz="2000" b="1" dirty="0"/>
              <a:t> = |</a:t>
            </a:r>
            <a:r>
              <a:rPr lang="en-GB" sz="2000" b="1" dirty="0" err="1"/>
              <a:t>bitrate_rounded</a:t>
            </a:r>
            <a:r>
              <a:rPr lang="en-GB" sz="2000" b="1" dirty="0"/>
              <a:t> − </a:t>
            </a:r>
            <a:r>
              <a:rPr lang="en-GB" sz="2000" b="1" dirty="0" err="1"/>
              <a:t>bitrate_desired</a:t>
            </a:r>
            <a:r>
              <a:rPr lang="en-GB" sz="2000" b="1" dirty="0"/>
              <a:t>| / </a:t>
            </a:r>
            <a:r>
              <a:rPr lang="en-GB" sz="2000" b="1" dirty="0" err="1"/>
              <a:t>bitrate_desired</a:t>
            </a:r>
            <a:endParaRPr lang="en-GB" sz="2000" b="1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Using the values we have, we get:</a:t>
            </a:r>
          </a:p>
          <a:p>
            <a:pPr marL="0" indent="0">
              <a:buNone/>
            </a:pPr>
            <a:r>
              <a:rPr lang="en-GB" sz="2000" dirty="0" err="1"/>
              <a:t>err_rel</a:t>
            </a:r>
            <a:r>
              <a:rPr lang="en-GB" sz="2000" dirty="0"/>
              <a:t> = |9599.52 − 9600| / 9600</a:t>
            </a:r>
          </a:p>
          <a:p>
            <a:pPr marL="0" indent="0">
              <a:buNone/>
            </a:pPr>
            <a:r>
              <a:rPr lang="en-GB" sz="2000" b="1" dirty="0"/>
              <a:t>so, </a:t>
            </a:r>
            <a:r>
              <a:rPr lang="en-GB" sz="2000" b="1" dirty="0" err="1"/>
              <a:t>err_rel</a:t>
            </a:r>
            <a:r>
              <a:rPr lang="en-GB" sz="2000" b="1" dirty="0"/>
              <a:t> = 0.48 / 9600 ≈ 0.005%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So, the absolute error in the baud rate is 0.48 bits/s, and the relative error is 0.005%, indicating a very small deviation from the desired baud rate.</a:t>
            </a:r>
            <a:endParaRPr lang="en-DE" sz="20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6B6E830-B218-2604-A49C-CA8EB85348AA}"/>
              </a:ext>
            </a:extLst>
          </p:cNvPr>
          <p:cNvSpPr txBox="1">
            <a:spLocks/>
          </p:cNvSpPr>
          <p:nvPr/>
        </p:nvSpPr>
        <p:spPr>
          <a:xfrm>
            <a:off x="1141413" y="0"/>
            <a:ext cx="9905998" cy="934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latin typeface="Rockwell" panose="02060603020205020403" pitchFamily="18" charset="0"/>
              </a:rPr>
              <a:t>Calculating Error Rate</a:t>
            </a:r>
          </a:p>
        </p:txBody>
      </p:sp>
    </p:spTree>
    <p:extLst>
      <p:ext uri="{BB962C8B-B14F-4D97-AF65-F5344CB8AC3E}">
        <p14:creationId xmlns:p14="http://schemas.microsoft.com/office/powerpoint/2010/main" val="2160208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33EBEA9-38A8-62C3-B8DC-9EFC732CAEFB}"/>
              </a:ext>
            </a:extLst>
          </p:cNvPr>
          <p:cNvSpPr txBox="1">
            <a:spLocks/>
          </p:cNvSpPr>
          <p:nvPr/>
        </p:nvSpPr>
        <p:spPr>
          <a:xfrm>
            <a:off x="1141413" y="0"/>
            <a:ext cx="9905998" cy="934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latin typeface="Rockwell" panose="02060603020205020403" pitchFamily="18" charset="0"/>
              </a:rPr>
              <a:t>Source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275809-8A64-4752-26D3-89F32CAD3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2" y="753761"/>
            <a:ext cx="11420475" cy="580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376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A77F7-795F-B51C-5B1C-D3B36AA92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40C6C-5BCA-B697-E15A-8DC649F82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E80E2EA-DF99-22FE-AC7F-AB2C69C6623A}"/>
              </a:ext>
            </a:extLst>
          </p:cNvPr>
          <p:cNvSpPr txBox="1">
            <a:spLocks/>
          </p:cNvSpPr>
          <p:nvPr/>
        </p:nvSpPr>
        <p:spPr>
          <a:xfrm>
            <a:off x="1141413" y="0"/>
            <a:ext cx="9905998" cy="934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latin typeface="Rockwell" panose="02060603020205020403" pitchFamily="18" charset="0"/>
              </a:rPr>
              <a:t>Source code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EBE49C-8D2A-0013-5600-AD6D33431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852948"/>
            <a:ext cx="11296650" cy="570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717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F8575-85E0-551F-FA21-77E9D4330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ACFF3-9AC8-36FC-80C1-744A32E65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E653BE5-6FDC-8BA1-8C56-F3C7430C5753}"/>
              </a:ext>
            </a:extLst>
          </p:cNvPr>
          <p:cNvSpPr txBox="1">
            <a:spLocks/>
          </p:cNvSpPr>
          <p:nvPr/>
        </p:nvSpPr>
        <p:spPr>
          <a:xfrm>
            <a:off x="1141413" y="0"/>
            <a:ext cx="9905998" cy="934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latin typeface="Rockwell" panose="02060603020205020403" pitchFamily="18" charset="0"/>
              </a:rPr>
              <a:t>Source code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A7A26C-1DC9-CCDE-A9ED-798C8EAA5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2" y="1066799"/>
            <a:ext cx="10725237" cy="458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253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Testing The Prototype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C9499E9-2A00-30F7-2C13-C03E0EE867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6815" y="1112107"/>
            <a:ext cx="10360596" cy="5297005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D335B91-EB43-CE5A-F50E-2298BFCAFFEA}"/>
              </a:ext>
            </a:extLst>
          </p:cNvPr>
          <p:cNvSpPr txBox="1">
            <a:spLocks/>
          </p:cNvSpPr>
          <p:nvPr/>
        </p:nvSpPr>
        <p:spPr>
          <a:xfrm>
            <a:off x="1141413" y="0"/>
            <a:ext cx="9905998" cy="934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latin typeface="Rockwell" panose="02060603020205020403" pitchFamily="18" charset="0"/>
              </a:rPr>
              <a:t>Source code</a:t>
            </a:r>
          </a:p>
        </p:txBody>
      </p:sp>
    </p:spTree>
    <p:extLst>
      <p:ext uri="{BB962C8B-B14F-4D97-AF65-F5344CB8AC3E}">
        <p14:creationId xmlns:p14="http://schemas.microsoft.com/office/powerpoint/2010/main" val="1348318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D335B91-EB43-CE5A-F50E-2298BFCAFFEA}"/>
              </a:ext>
            </a:extLst>
          </p:cNvPr>
          <p:cNvSpPr txBox="1">
            <a:spLocks/>
          </p:cNvSpPr>
          <p:nvPr/>
        </p:nvSpPr>
        <p:spPr>
          <a:xfrm>
            <a:off x="1143001" y="-58189"/>
            <a:ext cx="9905998" cy="934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latin typeface="Rockwell" panose="02060603020205020403" pitchFamily="18" charset="0"/>
              </a:rPr>
              <a:t>The result</a:t>
            </a:r>
          </a:p>
        </p:txBody>
      </p:sp>
      <p:pic>
        <p:nvPicPr>
          <p:cNvPr id="4" name="UART Lab 4_x264">
            <a:hlinkClick r:id="" action="ppaction://media"/>
            <a:extLst>
              <a:ext uri="{FF2B5EF4-FFF2-40B4-BE49-F238E27FC236}">
                <a16:creationId xmlns:a16="http://schemas.microsoft.com/office/drawing/2014/main" id="{64CBD37D-D6D3-7C19-690A-6EF8FCB63B1C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11550" y="1125792"/>
            <a:ext cx="9170551" cy="5158434"/>
          </a:xfrm>
        </p:spPr>
      </p:pic>
    </p:spTree>
    <p:extLst>
      <p:ext uri="{BB962C8B-B14F-4D97-AF65-F5344CB8AC3E}">
        <p14:creationId xmlns:p14="http://schemas.microsoft.com/office/powerpoint/2010/main" val="1703740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71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Final Observation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code is designed to run indefinitely, continuously reading commands from UART0 and controlling LEDs on the TIVA TM4C1294XL Evaluation Board based on these commands. The switch on Port J is configured to generate an interrupt, and the state of the LEDs can be queried and transmitted back to the console.</a:t>
            </a:r>
          </a:p>
          <a:p>
            <a:pPr lvl="0"/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these tasks was completed successfully with expected output.</a:t>
            </a:r>
          </a:p>
          <a:p>
            <a:pPr marL="0" lv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6133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52F123B2955864DAAAAA76B87B4B6C4" ma:contentTypeVersion="9" ma:contentTypeDescription="Ein neues Dokument erstellen." ma:contentTypeScope="" ma:versionID="f41c514323d728d0371be22900c18d0a">
  <xsd:schema xmlns:xsd="http://www.w3.org/2001/XMLSchema" xmlns:xs="http://www.w3.org/2001/XMLSchema" xmlns:p="http://schemas.microsoft.com/office/2006/metadata/properties" xmlns:ns3="cf1f530d-ac2f-4f7f-974e-6acdfad41686" targetNamespace="http://schemas.microsoft.com/office/2006/metadata/properties" ma:root="true" ma:fieldsID="deeb9d00d075f43d14c4863376875a70" ns3:_="">
    <xsd:import namespace="cf1f530d-ac2f-4f7f-974e-6acdfad4168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1f530d-ac2f-4f7f-974e-6acdfad416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327232F-E711-4BA0-9CF3-1F5FC09646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f1f530d-ac2f-4f7f-974e-6acdfad416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7866CFD-F94E-4AE5-ACEA-86FEC0F48A10}">
  <ds:schemaRefs>
    <ds:schemaRef ds:uri="http://purl.org/dc/dcmitype/"/>
    <ds:schemaRef ds:uri="cf1f530d-ac2f-4f7f-974e-6acdfad41686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terms/"/>
    <ds:schemaRef ds:uri="http://www.w3.org/XML/1998/namespace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172</TotalTime>
  <Words>446</Words>
  <Application>Microsoft Office PowerPoint</Application>
  <PresentationFormat>Widescreen</PresentationFormat>
  <Paragraphs>39</Paragraphs>
  <Slides>13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Rockwell</vt:lpstr>
      <vt:lpstr>Tahoma</vt:lpstr>
      <vt:lpstr>Tw Cen MT</vt:lpstr>
      <vt:lpstr>Circuit</vt:lpstr>
      <vt:lpstr> Micro-Controller Lab 4 Presentation</vt:lpstr>
      <vt:lpstr>Problem: Controlling a microcontroller with the PC via UART protocol</vt:lpstr>
      <vt:lpstr>Flow Chart</vt:lpstr>
      <vt:lpstr>The result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Testing The Prototype</vt:lpstr>
      <vt:lpstr>PowerPoint Presentation</vt:lpstr>
      <vt:lpstr>Final Observation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1 Presentation</dc:title>
  <dc:creator>H Zitu</dc:creator>
  <cp:lastModifiedBy>Minhazul Islam</cp:lastModifiedBy>
  <cp:revision>11</cp:revision>
  <dcterms:created xsi:type="dcterms:W3CDTF">2023-12-21T00:30:01Z</dcterms:created>
  <dcterms:modified xsi:type="dcterms:W3CDTF">2026-10-26T19:51:11Z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0x010100652F123B2955864DAAAAA76B87B4B6C4</vt:lpwstr>
  </property>
</Properties>
</file>